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566928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Segoe UI"/>
              </a:rPr>
              <a:t>MACHINE LEARNING · IT SERVICE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0B0B0B"/>
                </a:solidFill>
                <a:latin typeface="Segoe UI"/>
              </a:rPr>
              <a:t>Ticket Support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2514E"/>
                </a:solidFill>
                <a:latin typeface="Segoe UI"/>
              </a:rPr>
              <a:t>Automatically routing IT support tickets to the right team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52514E"/>
                </a:solidFill>
                <a:latin typeface="Segoe UI"/>
              </a:rPr>
              <a:t>with TF-IDF +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898781"/>
                </a:solidFill>
                <a:latin typeface="Segoe UI"/>
              </a:rPr>
              <a:t>Team presentation — technical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Ticket Support Model — routing tickets to the right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6539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19072"/>
            <a:ext cx="9875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0B0B0B"/>
                </a:solidFill>
                <a:latin typeface="Segoe UI"/>
              </a:rPr>
              <a:t>The problem — why route tickets automatically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267712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249424"/>
            <a:ext cx="9875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0B0B0B"/>
                </a:solidFill>
                <a:latin typeface="Segoe UI"/>
              </a:rPr>
              <a:t>The dataset — 1,500 tickets across 10 teams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798064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79776"/>
            <a:ext cx="9875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0B0B0B"/>
                </a:solidFill>
                <a:latin typeface="Segoe UI"/>
              </a:rPr>
              <a:t>Data quality checks — duplicates, conflicts, leakage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328416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10128"/>
            <a:ext cx="9875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0B0B0B"/>
                </a:solidFill>
                <a:latin typeface="Segoe UI"/>
              </a:rPr>
              <a:t>Preprocessing &amp; pipeline design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858768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840480"/>
            <a:ext cx="9875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0B0B0B"/>
                </a:solidFill>
                <a:latin typeface="Segoe UI"/>
              </a:rPr>
              <a:t>Baseline vs. model — is it actually better than guessing?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370832"/>
            <a:ext cx="9875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0B0B0B"/>
                </a:solidFill>
                <a:latin typeface="Segoe UI"/>
              </a:rPr>
              <a:t>Per-team performance &amp; confusion matrix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919472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901184"/>
            <a:ext cx="9875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0B0B0B"/>
                </a:solidFill>
                <a:latin typeface="Segoe UI"/>
              </a:rPr>
              <a:t>Live predictions on new tickets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449824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431536"/>
            <a:ext cx="9875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0B0B0B"/>
                </a:solidFill>
                <a:latin typeface="Segoe UI"/>
              </a:rPr>
              <a:t>Limitations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Why route tickets automatically?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Ticket Support Model — routing tickets to the right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6539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52514E"/>
                </a:solidFill>
                <a:latin typeface="Segoe UI"/>
              </a:rPr>
              <a:t>Every ticket that lands in the help desk queue first has to be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52514E"/>
                </a:solidFill>
                <a:latin typeface="Segoe UI"/>
              </a:rPr>
              <a:t>read and manually assigned to one of 10 specialist teams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52514E"/>
                </a:solidFill>
                <a:latin typeface="Segoe UI"/>
              </a:rPr>
              <a:t>before anyone can start fixing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63240"/>
            <a:ext cx="3520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063240"/>
            <a:ext cx="73152" cy="15544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644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Slow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85032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Manual routing adds delay before work even starts.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3063240"/>
            <a:ext cx="3520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3063240"/>
            <a:ext cx="73152" cy="15544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2644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Inconsistent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685032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Different dispatchers route similar tickets differently.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3063240"/>
            <a:ext cx="3520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3063240"/>
            <a:ext cx="73152" cy="15544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264408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Doesn't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685032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Ticket volume grows faster than triage staff.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2920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035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0B0B0B"/>
                </a:solidFill>
                <a:latin typeface="Segoe UI"/>
              </a:rPr>
              <a:t>Given the free-text description of a ticket, automatically predict the team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0B0B0B"/>
                </a:solidFill>
                <a:latin typeface="Segoe UI"/>
              </a:rPr>
              <a:t>that should handle it (assigned_team) — plus a confidence score, so low-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0B0B0B"/>
                </a:solidFill>
                <a:latin typeface="Segoe UI"/>
              </a:rPr>
              <a:t>confidence predictions can still be escalated to a human.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Dataset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Ticket Support Model — routing tickets to the right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6539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2606040" cy="123444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82880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A78D6"/>
                </a:solidFill>
                <a:latin typeface="Segoe UI"/>
              </a:rPr>
              <a:t>1,500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9631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tickets total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91640"/>
            <a:ext cx="2606040" cy="123444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82880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A78D6"/>
                </a:solidFill>
                <a:latin typeface="Segoe U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49631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support teams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691640"/>
            <a:ext cx="2606040" cy="123444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82880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A78D6"/>
                </a:solidFill>
                <a:latin typeface="Segoe UI"/>
              </a:rPr>
              <a:t>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49631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tickets per team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1691640"/>
            <a:ext cx="2606040" cy="123444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82880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A78D6"/>
                </a:solidFill>
                <a:latin typeface="Segoe UI"/>
              </a:rPr>
              <a:t>~117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496312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avg. characters / ticket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461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0B0B"/>
                </a:solidFill>
                <a:latin typeface="Segoe UI"/>
              </a:rPr>
              <a:t>The 10 teams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657600"/>
            <a:ext cx="20848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B0B0B"/>
                </a:solidFill>
                <a:latin typeface="Segoe UI"/>
              </a:rPr>
              <a:t>Applications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0903" y="3657600"/>
            <a:ext cx="20848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0903" y="3657600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B0B0B"/>
                </a:solidFill>
                <a:latin typeface="Segoe UI"/>
              </a:rPr>
              <a:t>Endpoint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8886" y="3657600"/>
            <a:ext cx="20848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6" y="3657600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B0B0B"/>
                </a:solidFill>
                <a:latin typeface="Segoe UI"/>
              </a:rPr>
              <a:t>Security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76869" y="3657600"/>
            <a:ext cx="20848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69" y="3657600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B0B0B"/>
                </a:solidFill>
                <a:latin typeface="Segoe UI"/>
              </a:rPr>
              <a:t>Email &amp; Collaboration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34852" y="3657600"/>
            <a:ext cx="20848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34852" y="3657600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B0B0B"/>
                </a:solidFill>
                <a:latin typeface="Segoe UI"/>
              </a:rPr>
              <a:t>Identity &amp; Access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70248"/>
            <a:ext cx="20848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2702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B0B0B"/>
                </a:solidFill>
                <a:latin typeface="Segoe UI"/>
              </a:rPr>
              <a:t>Hardware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60903" y="4270248"/>
            <a:ext cx="20848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60903" y="42702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B0B0B"/>
                </a:solidFill>
                <a:latin typeface="Segoe UI"/>
              </a:rPr>
              <a:t>Telephony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18886" y="4270248"/>
            <a:ext cx="20848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18886" y="42702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B0B0B"/>
                </a:solidFill>
                <a:latin typeface="Segoe UI"/>
              </a:rPr>
              <a:t>Database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6869" y="4270248"/>
            <a:ext cx="20848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69" y="42702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B0B0B"/>
                </a:solidFill>
                <a:latin typeface="Segoe UI"/>
              </a:rPr>
              <a:t>Network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34852" y="4270248"/>
            <a:ext cx="2084831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34852" y="4270248"/>
            <a:ext cx="2084831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0B0B0B"/>
                </a:solidFill>
                <a:latin typeface="Segoe UI"/>
              </a:rPr>
              <a:t>Cloud &amp; Infrastructure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0749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Perfectly balanced classes (150/team): accuracy and macro-averaged metrics can be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compared directly across teams, with no majority class to skew results and no need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for class_weight or resampling.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Checks before training — catching leakage 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Ticket Support Model — routing tickets to the right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6539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719072"/>
            <a:ext cx="146304" cy="146304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916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0B0B"/>
                </a:solidFill>
                <a:latin typeface="Segoe UI"/>
              </a:rPr>
              <a:t>Exact duplicates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9 duplicate descriptions found and dropped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691640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If left in, the same sentence could land in both train and test — an artificially perfect score.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79192"/>
            <a:ext cx="1060704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2834640"/>
            <a:ext cx="146304" cy="146304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0720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0B0B"/>
                </a:solidFill>
                <a:latin typeface="Segoe UI"/>
              </a:rPr>
              <a:t>Conflicting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7296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5 descriptions had more than one assigned_team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807208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Same text, different team in different rows — a sign of inconsistent labeling to flag, not silently trust.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94760"/>
            <a:ext cx="1060704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3950208"/>
            <a:ext cx="146304" cy="146304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2277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0B0B"/>
                </a:solidFill>
                <a:latin typeface="Segoe UI"/>
              </a:rPr>
              <a:t>Non-ASCII / HTML noise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88536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Stray encoding artifacts found in free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922776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Text is re-encoded to ASCII (errors ignored) so stray symbols don't pollute the vocabulary.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10328"/>
            <a:ext cx="10607040" cy="9525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2920" y="5065776"/>
            <a:ext cx="146304" cy="146304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3834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B0B0B"/>
                </a:solidFill>
                <a:latin typeface="Segoe UI"/>
              </a:rPr>
              <a:t>“Too good to be true” 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04104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Telephony scored a perfect 1.00 precision/recall/F1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5038344"/>
            <a:ext cx="7223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Investigated for leakage first — the real cause is a very distinctive vocabulary (“phone”, “voicemail”, “extension”), confirmed via duplicate/uniqueness checks, not a bug.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Preprocessing &amp; model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Ticket Support Model — routing tickets to the right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6539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3246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246120" cy="7315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2258568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880360"/>
            <a:ext cx="2734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Segoe UI"/>
              </a:rPr>
              <a:t>Clean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383280"/>
            <a:ext cx="273405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lowercase · strip digits/punctuation · remove custom stopwords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(incl. ticket filler: “hi”, “new”, “help”)</a:t>
            </a:r>
          </a:p>
        </p:txBody>
      </p:sp>
      <p:sp>
        <p:nvSpPr>
          <p:cNvPr id="14" name="Chevron 13"/>
          <p:cNvSpPr/>
          <p:nvPr/>
        </p:nvSpPr>
        <p:spPr>
          <a:xfrm>
            <a:off x="3822192" y="2990088"/>
            <a:ext cx="365760" cy="329184"/>
          </a:xfrm>
          <a:prstGeom prst="chevron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965960"/>
            <a:ext cx="3246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965960"/>
            <a:ext cx="3246120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07992" y="2258568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880360"/>
            <a:ext cx="2734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Segoe UI"/>
              </a:rPr>
              <a:t>TF-IDF vectorize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3383280"/>
            <a:ext cx="273405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unigrams + bigrams · max 5,000 features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sublinear term-frequency scaling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7571232" y="2990088"/>
            <a:ext cx="365760" cy="329184"/>
          </a:xfrm>
          <a:prstGeom prst="chevron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965960"/>
            <a:ext cx="3246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1965960"/>
            <a:ext cx="3246120" cy="7315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57032" y="2258568"/>
            <a:ext cx="457200" cy="45720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880360"/>
            <a:ext cx="27340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Segoe UI"/>
              </a:rPr>
              <a:t>Logistic Regression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383280"/>
            <a:ext cx="273405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C = 5.0 · max_iter = 1,000 · solver = lbfgs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multi-class over 10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091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0B0B"/>
                </a:solidFill>
                <a:latin typeface="Segoe UI"/>
              </a:rPr>
              <a:t>All three steps live in a single sklearn.Pipeline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07492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so the exact same cleaning + vectorization is applied consistently at both training and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prediction time — no risk of the two drifting apart, and the whole pipeline is a single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object that can be saved with joblib and reloaded without retraining.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Avoiding data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Ticket Support Model — routing tickets to the right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6539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Two ordering decisions protect the evaluation from being artificially optimistic: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212080" cy="329184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86000"/>
            <a:ext cx="73152" cy="32918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Split before vectorizing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train_test_split(..., test_size=0.25, stratify=y) runs first.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The TF-IDF vectorizer is then fit only on X_train — its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vocabulary and IDF weights never see the test set. Test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tickets are transformed using that already-fixed vocabulary.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2286000"/>
            <a:ext cx="5212080" cy="329184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2286000"/>
            <a:ext cx="73152" cy="3291840"/>
          </a:xfrm>
          <a:prstGeom prst="rect">
            <a:avLst/>
          </a:prstGeom>
          <a:solidFill>
            <a:srgbClr val="4A3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51460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0B0B"/>
                </a:solidFill>
                <a:latin typeface="Segoe UI"/>
              </a:rPr>
              <a:t>Stratified 75/25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63240"/>
            <a:ext cx="4663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stratify=y keeps each team's share proportional in both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sets, so no team accidentally ends up entirely in test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(or entirely in train).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Combined with dropping exact duplicate descriptions first,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this keeps train and test genuinely independent.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Baseline vs.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Ticket Support Model — routing tickets to the right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6539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  <p:pic>
        <p:nvPicPr>
          <p:cNvPr id="9" name="Picture 8" descr="baseline_v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7498079" cy="38017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49640" y="1737360"/>
            <a:ext cx="3108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Segoe UI"/>
              </a:rPr>
              <a:t>Held-out test set</a:t>
            </a:r>
          </a:p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B0B0B"/>
                </a:solidFill>
                <a:latin typeface="Segoe UI"/>
              </a:rPr>
              <a:t>(25%, 373 tickets)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514600"/>
            <a:ext cx="3200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The Dummy baseline always predicts the most frequent class — on a perfectly balanced dataset that caps out near 10% accuracy.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Logistic Regression reaches 0.83 macro-F1, an 8x improvement over guessing, confirming the ticket text genuinely carries team signal.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Per-team F1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Ticket Support Model — routing tickets to the right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6539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  <p:pic>
        <p:nvPicPr>
          <p:cNvPr id="9" name="Picture 8" descr="per_team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125922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0" y="17373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Easy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103120"/>
            <a:ext cx="2880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Telephony, Hardware and Email &amp; Collaboration have distinctive vocabulary (“voicemail”, “monitor”, “distribution list”).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794760"/>
            <a:ext cx="2880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Harder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160520"/>
            <a:ext cx="2880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2514E"/>
                </a:solidFill>
                <a:latin typeface="Segoe UI"/>
              </a:rPr>
              <a:t>Network and Security tickets often describe generic symptoms (“not working”, “getting an error”) that overlap with other teams — see the confusion matrix next.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Where the model gets confused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Ticket Support Model — routing tickets to the right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6539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417320"/>
            <a:ext cx="6705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Live predictions on new tickets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Ticket Support Model — routing tickets to the right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6539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08760"/>
          <a:ext cx="112014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5160"/>
                <a:gridCol w="3063240"/>
                <a:gridCol w="1143000"/>
              </a:tblGrid>
              <a:tr h="461356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Ticket (excerpt)</a:t>
                      </a:r>
                    </a:p>
                  </a:txBody>
                  <a:tcPr anchor="ctr" marL="91440" marT="27432" marB="2743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Predicted team</a:t>
                      </a:r>
                    </a:p>
                  </a:txBody>
                  <a:tcPr anchor="ctr" marL="91440" marT="27432" marB="27432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Segoe UI"/>
                        </a:rPr>
                        <a:t>Confidence</a:t>
                      </a:r>
                    </a:p>
                  </a:txBody>
                  <a:tcPr anchor="ctr" marL="91440" marT="27432" marB="27432">
                    <a:solidFill>
                      <a:srgbClr val="2A78D6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“ERP rejects my purchase order with a validation error”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Applications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84F95"/>
                          </a:solidFill>
                          <a:latin typeface="Segoe UI"/>
                        </a:rPr>
                        <a:t>0.88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“Windows update stuck installing for two days”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Endpoint Management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84F95"/>
                          </a:solidFill>
                          <a:latin typeface="Segoe UI"/>
                        </a:rPr>
                        <a:t>0.87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“Someone signed into my account from Romania at 3am”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Security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84F95"/>
                          </a:solidFill>
                          <a:latin typeface="Segoe UI"/>
                        </a:rPr>
                        <a:t>0.83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“Account locked, distribution list lost access”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Email &amp; Collaboration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84F95"/>
                          </a:solidFill>
                          <a:latin typeface="Segoe UI"/>
                        </a:rPr>
                        <a:t>0.85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“Need admin rights, can't see files I'm supposed to”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Identity &amp; Access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84F95"/>
                          </a:solidFill>
                          <a:latin typeface="Segoe UI"/>
                        </a:rPr>
                        <a:t>0.95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“Laptop won't turn on this morning”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Hardware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84F95"/>
                          </a:solidFill>
                          <a:latin typeface="Segoe UI"/>
                        </a:rPr>
                        <a:t>0.54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“Voicemail has terrible audio, call queue no dial tone”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Telephony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84F95"/>
                          </a:solidFill>
                          <a:latin typeface="Segoe UI"/>
                        </a:rPr>
                        <a:t>0.94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“Connection pool: too many connections, everything slow”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84F95"/>
                          </a:solidFill>
                          <a:latin typeface="Segoe UI"/>
                        </a:rPr>
                        <a:t>0.70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</a:tr>
              <a:tr h="46135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“Internet keeps dropping, can't reach anything internal”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Network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84F95"/>
                          </a:solidFill>
                          <a:latin typeface="Segoe UI"/>
                        </a:rPr>
                        <a:t>0.96</a:t>
                      </a:r>
                    </a:p>
                  </a:txBody>
                  <a:tcPr anchor="ctr" marL="91440" marT="18288" marB="18288">
                    <a:solidFill>
                      <a:srgbClr val="FFFFFF"/>
                    </a:solidFill>
                  </a:tcPr>
                </a:tc>
              </a:tr>
              <a:tr h="461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“EC2 instance at 100% CPU, autoscaling won't scale up”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B0B0B"/>
                          </a:solidFill>
                          <a:latin typeface="Segoe UI"/>
                        </a:rPr>
                        <a:t>Cloud &amp; Infrastructure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84F95"/>
                          </a:solidFill>
                          <a:latin typeface="Segoe UI"/>
                        </a:rPr>
                        <a:t>0.95</a:t>
                      </a:r>
                    </a:p>
                  </a:txBody>
                  <a:tcPr anchor="ctr" marL="91440" marT="18288" marB="18288">
                    <a:solidFill>
                      <a:srgbClr val="F9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0B0B"/>
                </a:solidFill>
                <a:latin typeface="Segoe UI"/>
              </a:rPr>
              <a:t>Limitations &amp; 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914400" cy="381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Ticket Support Model — routing tickets to the right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565392"/>
            <a:ext cx="5486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73152" cy="448056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Segoe UI"/>
              </a:rPr>
              <a:t>Known limitations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109728" cy="1097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219456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Short, template-like training text — real-world tickets with more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variety in phrasing may see lower confidence.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83864"/>
            <a:ext cx="109728" cy="1097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42900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Only one real model trained (Logistic Regression); the only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comparison point today is a naive DummyClassifier baseline.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718304"/>
            <a:ext cx="109728" cy="109728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466344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No systematic review yet of individual misclassified tickets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(y_pred != y_test) beyond the aggregate confusion matrix.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645920"/>
            <a:ext cx="73152" cy="448056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6002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B0B"/>
                </a:solidFill>
                <a:latin typeface="Segoe UI"/>
              </a:rPr>
              <a:t>Planned improvements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2249424"/>
            <a:ext cx="109728" cy="109728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19456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Add a second classical model (SVM or Naive Bayes) — or a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transformer baseline (DistilBERT) — on the same test set.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3483864"/>
            <a:ext cx="109728" cy="109728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42900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Pull concrete misclassified examples and discuss why they're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ambiguous (e.g. generic “not working” phrasing).</a:t>
            </a:r>
          </a:p>
        </p:txBody>
      </p:sp>
      <p:sp>
        <p:nvSpPr>
          <p:cNvPr id="23" name="Oval 22"/>
          <p:cNvSpPr/>
          <p:nvPr/>
        </p:nvSpPr>
        <p:spPr>
          <a:xfrm>
            <a:off x="6263640" y="4718304"/>
            <a:ext cx="109728" cy="109728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4663440"/>
            <a:ext cx="5029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Hyperparameter search already wired up via GridSearchCV +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StratifiedKFold — run it and lock in the best configuration.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B0B0B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61188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2514E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Code: model.py / main.py  ·  Dataset: it_support_tickets.csv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